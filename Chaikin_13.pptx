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strument Sans Medium" pitchFamily="2" charset="0"/>
      <p:regular r:id="rId17"/>
    </p:embeddedFont>
    <p:embeddedFont>
      <p:font typeface="Instrument Sans Semi Bold" pitchFamily="2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82" d="100"/>
          <a:sy n="82" d="100"/>
        </p:scale>
        <p:origin x="125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6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18548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Разработка и тестирование микросервисной архитектуры с использованием FastAPI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6026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 концепции к надежному внедрению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6220658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Докладчик: Чайкин Дмитрий</a:t>
            </a:r>
            <a:endParaRPr lang="en-US" sz="1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A351B1-86A7-F3CD-E1ED-B22AEAC96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10" y="7268936"/>
            <a:ext cx="2241547" cy="9606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435" y="491490"/>
            <a:ext cx="7893129" cy="1117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Эволюция архитектуры: от монолита к микросервисам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5435" y="1876544"/>
            <a:ext cx="7893129" cy="2456498"/>
          </a:xfrm>
          <a:prstGeom prst="roundRect">
            <a:avLst>
              <a:gd name="adj" fmla="val 3056"/>
            </a:avLst>
          </a:prstGeom>
          <a:solidFill>
            <a:srgbClr val="E2E3E9"/>
          </a:solidFill>
          <a:ln w="7620">
            <a:solidFill>
              <a:srgbClr val="E2E3E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768" y="2062877"/>
            <a:ext cx="536138" cy="536138"/>
          </a:xfrm>
          <a:prstGeom prst="roundRect">
            <a:avLst>
              <a:gd name="adj" fmla="val 17053605"/>
            </a:avLst>
          </a:prstGeom>
          <a:solidFill>
            <a:srgbClr val="E2E3E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67" y="2210276"/>
            <a:ext cx="241221" cy="2412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1768" y="2777728"/>
            <a:ext cx="2596872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Ограничения монолита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11768" y="3164086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Сложность масштабирования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1768" y="3512463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Единая точка отказа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1768" y="3860840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Технологический долг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5435" y="4511754"/>
            <a:ext cx="7893129" cy="2456498"/>
          </a:xfrm>
          <a:prstGeom prst="roundRect">
            <a:avLst>
              <a:gd name="adj" fmla="val 3056"/>
            </a:avLst>
          </a:prstGeom>
          <a:solidFill>
            <a:srgbClr val="E2E3E9"/>
          </a:solidFill>
          <a:ln w="7620">
            <a:solidFill>
              <a:srgbClr val="E2E3E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11768" y="4698087"/>
            <a:ext cx="536138" cy="536138"/>
          </a:xfrm>
          <a:prstGeom prst="roundRect">
            <a:avLst>
              <a:gd name="adj" fmla="val 17053605"/>
            </a:avLst>
          </a:prstGeom>
          <a:solidFill>
            <a:srgbClr val="E2E3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9167" y="4845487"/>
            <a:ext cx="241221" cy="2412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1768" y="5412938"/>
            <a:ext cx="337530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Преимущества микросервисов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11768" y="5799296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Независимое развертывание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1768" y="6147673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Масштабируемость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1768" y="6496050"/>
            <a:ext cx="7520464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Гибкость технологий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35" y="7169229"/>
            <a:ext cx="7893129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Вывод: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FastAPI — идеальный инструмент для создания современных, быстрых API-сервисов, поддерживающий переход к гибкой и масштабируемой архитектуре.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498" y="433388"/>
            <a:ext cx="11813977" cy="492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FastAPI: Высокая производительность и простота разработки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1498" y="1240988"/>
            <a:ext cx="13527405" cy="25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FastAPI выделяется на фоне других фреймворков благодаря своей скорости, простоте использования и мощным встроенным функциям.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552" y="1852613"/>
            <a:ext cx="236339" cy="2363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3585" y="1847731"/>
            <a:ext cx="196988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Скорость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63585" y="2251472"/>
            <a:ext cx="6059448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Основан на </a:t>
            </a: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Starlette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веб-частей и </a:t>
            </a: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Pydantic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валидации данных, обеспечивая производительность, сравнимую с NodeJS и Go.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552" y="3075861"/>
            <a:ext cx="236339" cy="2363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3585" y="3070979"/>
            <a:ext cx="196988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Автодокументация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063585" y="3474720"/>
            <a:ext cx="6059448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Автоматическая генерация интерактивной документации </a:t>
            </a: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OpenAPI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(Swagger UI и ReDoc) прямо из кода.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552" y="4299109"/>
            <a:ext cx="236339" cy="2363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3585" y="4294227"/>
            <a:ext cx="196988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Валидация данных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063585" y="4697968"/>
            <a:ext cx="6059448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Встроенная валидация и сериализация данных с помощью </a:t>
            </a: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Pydantic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что значительно упрощает работу с запросами и ответами.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552" y="5522357"/>
            <a:ext cx="236339" cy="2363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3585" y="5517475"/>
            <a:ext cx="1969889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Асинхронность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063585" y="5921216"/>
            <a:ext cx="6059448" cy="50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Полная поддержка синтаксиса </a:t>
            </a: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async/await</a:t>
            </a: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эффективной обработки I/O-операций.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243" y="1799953"/>
            <a:ext cx="5767660" cy="576766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99F5CE-F766-3A5C-D44B-B778A6EE6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0" y="7571032"/>
            <a:ext cx="1993857" cy="6585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773" y="637699"/>
            <a:ext cx="7929801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Взгляд изнутри: Структура сервиса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8773" y="1602462"/>
            <a:ext cx="13312854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Наш пример микросервиса построен по принципу модульности, где каждый компонент отвечает за свою четко определенную функцию.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8773" y="3088007"/>
            <a:ext cx="4312087" cy="1762958"/>
          </a:xfrm>
          <a:prstGeom prst="roundRect">
            <a:avLst>
              <a:gd name="adj" fmla="val 448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9871" y="3299104"/>
            <a:ext cx="2352913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Роутер (Endpoints)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9871" y="3706060"/>
            <a:ext cx="3889891" cy="933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Определяет маршруты API, например,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/items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получения данных и </a:t>
            </a:r>
            <a:r>
              <a:rPr lang="en-US" sz="1450" dirty="0">
                <a:solidFill>
                  <a:srgbClr val="5B5F7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/items</a:t>
            </a: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для создания.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159097" y="3088007"/>
            <a:ext cx="4312087" cy="1762958"/>
          </a:xfrm>
          <a:prstGeom prst="roundRect">
            <a:avLst>
              <a:gd name="adj" fmla="val 448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70195" y="3299104"/>
            <a:ext cx="377047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Сервисный слой (Business Logic)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370195" y="3706060"/>
            <a:ext cx="3889891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Содержит основную бизнес-логику приложения, изолированную от HTTP-слоя и слоя доступа к данным.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659422" y="3088007"/>
            <a:ext cx="4312087" cy="1762958"/>
          </a:xfrm>
          <a:prstGeom prst="roundRect">
            <a:avLst>
              <a:gd name="adj" fmla="val 448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0519" y="3299104"/>
            <a:ext cx="3050143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Модели данных (Pydantic)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870519" y="3706060"/>
            <a:ext cx="3889891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Определяют схемы данных для запросов и ответов, обеспечивая автоматическую валидацию.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58773" y="5039203"/>
            <a:ext cx="6562249" cy="1431369"/>
          </a:xfrm>
          <a:prstGeom prst="roundRect">
            <a:avLst>
              <a:gd name="adj" fmla="val 552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871" y="5250301"/>
            <a:ext cx="3133487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Репозиторий (Data Access)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869871" y="5657256"/>
            <a:ext cx="61400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Отвечает за взаимодействие с базой данных, используя ORM, например, SQLAlchemy.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409259" y="5039203"/>
            <a:ext cx="6562249" cy="1431369"/>
          </a:xfrm>
          <a:prstGeom prst="roundRect">
            <a:avLst>
              <a:gd name="adj" fmla="val 552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8C9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0357" y="5250301"/>
            <a:ext cx="3353991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Зависимости (Dependencies)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620357" y="5657256"/>
            <a:ext cx="6140053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Используются для внедрения зависимостей, что обеспечивает слабую связанность и облегчает тестирование.</a:t>
            </a:r>
            <a:endParaRPr lang="en-US" sz="14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FA41D9F-404E-47FA-92B4-4F8CE2C61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4014" y="7655008"/>
            <a:ext cx="2042843" cy="574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127" y="346591"/>
            <a:ext cx="6605230" cy="39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Шаг к продакшену: Упаковка в контейнеры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127" y="992505"/>
            <a:ext cx="13748147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Контейнеризация с Docker — это ключевой этап для обеспечения изоляции, повторяемости окружения и простоты развертывания микросервисов.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41127" y="1461968"/>
            <a:ext cx="1575554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1127" y="1784747"/>
            <a:ext cx="6720364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Создание легковесного образа Docker для микросервиса на FastAPI.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1127" y="2128242"/>
            <a:ext cx="6720364" cy="3416141"/>
          </a:xfrm>
          <a:prstGeom prst="roundRect">
            <a:avLst>
              <a:gd name="adj" fmla="val 1550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34935" y="2128242"/>
            <a:ext cx="6732746" cy="3416141"/>
          </a:xfrm>
          <a:prstGeom prst="roundRect">
            <a:avLst>
              <a:gd name="adj" fmla="val 553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560903" y="2222778"/>
            <a:ext cx="6480810" cy="3227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 Use an official Python runtime as a parent image
FROM python:3.9-slim-buster
# Set the working directory in the container
WORKDIR /app
# Install any needed packages specified in requirements.txt
COPY requirements.txt .
RUN pip install --no-cache-dir -r requirements.txt
# Copy the current directory contents into the container at /app
COPY . .
# Run the Uvicorn server when the container launches
CMD ["uvicorn", "main:app", "--host", "0.0.0.0", "--port", "8000"]
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503" y="1560373"/>
            <a:ext cx="5852994" cy="58529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836" y="6013847"/>
            <a:ext cx="1575554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836" y="6336625"/>
            <a:ext cx="6720364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Инструмент для локального запуска всего стека приложения, включая сервис FastAPI, базу данных и кэш.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4836" y="6651665"/>
            <a:ext cx="6720364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Упрощает разработку и тестирование в изолированном окружении.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4836" y="6897410"/>
            <a:ext cx="6720364" cy="201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Позволяет легко управлять мультиконтейнерными приложениями.</a:t>
            </a:r>
            <a:endParaRPr lang="en-US" sz="95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EE3FFD-7BE0-01A8-D1AC-182005155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300" y="7424075"/>
            <a:ext cx="1879557" cy="8055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163" y="716280"/>
            <a:ext cx="12314515" cy="65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Обеспечение качества: Пирамида тестирования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163" y="1786890"/>
            <a:ext cx="1316807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Для создания надежных микросервисов критически важен многоуровневый подход к тестированию.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5723" y="2356247"/>
            <a:ext cx="2194560" cy="1537930"/>
          </a:xfrm>
          <a:prstGeom prst="roundRect">
            <a:avLst>
              <a:gd name="adj" fmla="val 57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76080" y="2941558"/>
            <a:ext cx="293727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29118" y="2565083"/>
            <a:ext cx="2611517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E2E Тесты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5329118" y="3016687"/>
            <a:ext cx="8361283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Тестирование API через HTTP-клиент, проверка полного сценария взаимодействия, имитирующего действия пользователя.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30141" y="3884652"/>
            <a:ext cx="10764679" cy="11430"/>
          </a:xfrm>
          <a:prstGeom prst="roundRect">
            <a:avLst>
              <a:gd name="adj" fmla="val 767717"/>
            </a:avLst>
          </a:prstGeom>
          <a:solidFill>
            <a:srgbClr val="C8C9CF"/>
          </a:solidFill>
          <a:ln/>
        </p:spPr>
      </p:sp>
      <p:sp>
        <p:nvSpPr>
          <p:cNvPr id="9" name="Shape 7"/>
          <p:cNvSpPr/>
          <p:nvPr/>
        </p:nvSpPr>
        <p:spPr>
          <a:xfrm>
            <a:off x="1828443" y="3998595"/>
            <a:ext cx="4389239" cy="1537930"/>
          </a:xfrm>
          <a:prstGeom prst="roundRect">
            <a:avLst>
              <a:gd name="adj" fmla="val 57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6199" y="4583906"/>
            <a:ext cx="293727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26518" y="4207431"/>
            <a:ext cx="2983111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Интеграционные тесты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6426518" y="4659035"/>
            <a:ext cx="7263884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 взаимодействия между компонентами: сервисом FastAPI и базой данных, или внешними API.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24820" y="5527000"/>
            <a:ext cx="8570000" cy="11430"/>
          </a:xfrm>
          <a:prstGeom prst="roundRect">
            <a:avLst>
              <a:gd name="adj" fmla="val 767717"/>
            </a:avLst>
          </a:prstGeom>
          <a:solidFill>
            <a:srgbClr val="C8C9C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163" y="5640943"/>
            <a:ext cx="6584037" cy="1872258"/>
          </a:xfrm>
          <a:prstGeom prst="roundRect">
            <a:avLst>
              <a:gd name="adj" fmla="val 468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6318" y="6393418"/>
            <a:ext cx="293727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00"/>
              </a:lnSpc>
              <a:buNone/>
            </a:pPr>
            <a:r>
              <a:rPr lang="en-US" sz="2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524036" y="5849779"/>
            <a:ext cx="2611517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Unit-тесты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524036" y="6301383"/>
            <a:ext cx="6166366" cy="1002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Фундамент пирамиды: тестирование отдельных функций, методов, Pydantic-моделей и служебных классов с помощью pytest.</a:t>
            </a:r>
            <a:endParaRPr lang="en-US" sz="16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E23D83B-349F-F335-28E0-AC7EAF61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310" y="7268936"/>
            <a:ext cx="2241547" cy="9606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485" y="354687"/>
            <a:ext cx="6952059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Инструменты и практики: pytest и TestClient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1485" y="1015722"/>
            <a:ext cx="1372743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pytest в сочетании с TestClient FastAPI предоставляет мощный и удобный инструментарий для написания эффективных тестов.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1485" y="1495901"/>
            <a:ext cx="198977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Пример теста для FastAPI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1485" y="1842373"/>
            <a:ext cx="8110537" cy="5142548"/>
          </a:xfrm>
          <a:prstGeom prst="roundRect">
            <a:avLst>
              <a:gd name="adj" fmla="val 1054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445056" y="1842373"/>
            <a:ext cx="8123396" cy="5142548"/>
          </a:xfrm>
          <a:prstGeom prst="roundRect">
            <a:avLst>
              <a:gd name="adj" fmla="val 376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574000" y="1939052"/>
            <a:ext cx="7865507" cy="494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from fastapi.testclient import TestClient
from main import app
client = TestClient(app)
def test_create_item():
    response = client.post(
        "/items/",
        json={"name": "Foo", "description": "A description", "price": 12.5, "tax": 1.0}
    )
    assert response.status_code == 200
    assert response.json() == {
        "name": "Foo",
        "description": "A description",
        "price": 12.5,
        "tax": 1.0,
        "id": "item_id_placeholder"
    }
def test_read_item():
    response = client.get("/items/item_id_placeholder")
    assert response.status_code == 200
    assert response.json()["name"] == "Foo"
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4206" y="1495901"/>
            <a:ext cx="161246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Ключевые практики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84206" y="1826300"/>
            <a:ext cx="5302210" cy="206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TestClient: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Имитирует HTTP-запросы без фактического запуска сервера.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884206" y="2077641"/>
            <a:ext cx="5302210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Фикстуры (fixtures):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Позволяют переиспользовать код для инициализации приложения, клиента или сессии базы данных.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84206" y="2535198"/>
            <a:ext cx="5302210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Мокирование (unittest.mock):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Используется для изоляции тестируемого кода от внешних зависимостей, таких как внешние API или базы данных.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729" y="5959929"/>
            <a:ext cx="2269671" cy="22696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5191" y="452199"/>
            <a:ext cx="11631692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Непрерывная интеграция: Автоматический прогон тестов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5191" y="1294328"/>
            <a:ext cx="1348001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CI/CD пайплайны автоматизируют процесс тестирования и сборки, гарантируя стабильность и качество микросервисов.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5191" y="1742003"/>
            <a:ext cx="657344" cy="986076"/>
          </a:xfrm>
          <a:prstGeom prst="roundRect">
            <a:avLst>
              <a:gd name="adj" fmla="val 360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0574" y="2080974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96841" y="1906310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Git Push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6841" y="2261711"/>
            <a:ext cx="1265836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Каждое изменение в коде активирует пайплайн CI.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5191" y="2892385"/>
            <a:ext cx="657344" cy="986076"/>
          </a:xfrm>
          <a:prstGeom prst="roundRect">
            <a:avLst>
              <a:gd name="adj" fmla="val 360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574" y="3231356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96841" y="3056692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Линтинг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96841" y="3412093"/>
            <a:ext cx="1265836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Проверка кода на соответствие стандартам (Black, isort).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5191" y="4042767"/>
            <a:ext cx="657344" cy="986076"/>
          </a:xfrm>
          <a:prstGeom prst="roundRect">
            <a:avLst>
              <a:gd name="adj" fmla="val 360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0574" y="4381738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96841" y="4207073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6841" y="4562475"/>
            <a:ext cx="1265836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Автоматический запуск Unit- и интеграционных тестов.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5191" y="5193149"/>
            <a:ext cx="657344" cy="986076"/>
          </a:xfrm>
          <a:prstGeom prst="roundRect">
            <a:avLst>
              <a:gd name="adj" fmla="val 360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574" y="5532120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96841" y="5357455"/>
            <a:ext cx="2242661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Сборка Docker-образа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6841" y="5712857"/>
            <a:ext cx="1265836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Создание готового к развертыванию Docker-образа.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5191" y="6343531"/>
            <a:ext cx="657344" cy="986076"/>
          </a:xfrm>
          <a:prstGeom prst="roundRect">
            <a:avLst>
              <a:gd name="adj" fmla="val 36004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0574" y="6682502"/>
            <a:ext cx="246459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96841" y="6507837"/>
            <a:ext cx="2086689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Развертывание (CD)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6841" y="6863239"/>
            <a:ext cx="1265836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Автоматическое развертывание в тестовую или продакшен-среду.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5191" y="7514392"/>
            <a:ext cx="13480018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Цель:</a:t>
            </a: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Гарантировать, что новые изменения не ломают существующую функциональность, и обеспечить быструю и безопасную доставку кода.</a:t>
            </a:r>
            <a:endParaRPr lang="en-US" sz="125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DEE7045-5DAC-CDFD-9006-66A76A842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310" y="7268936"/>
            <a:ext cx="2241547" cy="9606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439" y="1110020"/>
            <a:ext cx="7472839" cy="41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Итоги: Сильный дуэт для современных систем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67439" y="1727716"/>
            <a:ext cx="8209121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Современная разработка требует гибких и надежных решений, и FastAPI в микросервисной архитектуре, подкрепленный строгим тестированием и автоматизацией, является именно таким решением.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4227" y="2298859"/>
            <a:ext cx="300276" cy="347067"/>
          </a:xfrm>
          <a:prstGeom prst="roundRect">
            <a:avLst>
              <a:gd name="adj" fmla="val 18271"/>
            </a:avLst>
          </a:prstGeom>
          <a:solidFill>
            <a:srgbClr val="DFDFE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02" y="2401133"/>
            <a:ext cx="166926" cy="1334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7439" y="2806184"/>
            <a:ext cx="1669613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67439" y="3094911"/>
            <a:ext cx="82091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Предоставляет скорость, простоту и удобство для быстрой разработки высокопроизводительных API.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4227" y="3569137"/>
            <a:ext cx="300276" cy="347067"/>
          </a:xfrm>
          <a:prstGeom prst="roundRect">
            <a:avLst>
              <a:gd name="adj" fmla="val 18271"/>
            </a:avLst>
          </a:prstGeom>
          <a:solidFill>
            <a:srgbClr val="DFDFE0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02" y="3671411"/>
            <a:ext cx="166926" cy="1334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7439" y="4076462"/>
            <a:ext cx="1669613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Микросервисы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67439" y="4365188"/>
            <a:ext cx="82091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Архитектура, построенная вокруг независимых сервисов на FastAPI, повышает гибкость и устойчивость системы.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84227" y="4839414"/>
            <a:ext cx="300276" cy="347067"/>
          </a:xfrm>
          <a:prstGeom prst="roundRect">
            <a:avLst>
              <a:gd name="adj" fmla="val 18271"/>
            </a:avLst>
          </a:prstGeom>
          <a:solidFill>
            <a:srgbClr val="DFDFE0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02" y="4941689"/>
            <a:ext cx="166926" cy="1334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7439" y="5346740"/>
            <a:ext cx="1669613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67439" y="5635466"/>
            <a:ext cx="82091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Комплексное тестирование (от unit до E2E) — неотъемлемая часть процесса, обеспечивающая надежность каждого сервиса.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4227" y="6109692"/>
            <a:ext cx="300276" cy="347067"/>
          </a:xfrm>
          <a:prstGeom prst="roundRect">
            <a:avLst>
              <a:gd name="adj" fmla="val 18271"/>
            </a:avLst>
          </a:prstGeom>
          <a:solidFill>
            <a:srgbClr val="DFDFE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02" y="6211967"/>
            <a:ext cx="166926" cy="1334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7439" y="6617018"/>
            <a:ext cx="1669613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Автоматизация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67439" y="6905744"/>
            <a:ext cx="82091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Контейнеризация и CI/CD делают процесс развертывания предсказуемым, автоматизированным и безопасным.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0493" y="4697696"/>
            <a:ext cx="90148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Спасибо за </a:t>
            </a:r>
            <a:r>
              <a:rPr lang="en-US" sz="4450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внимание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!</a:t>
            </a:r>
            <a:endParaRPr lang="en-US" sz="445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AEFD2C-ED05-0E65-3F04-429365EC9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10" y="7268936"/>
            <a:ext cx="2241547" cy="960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989</Words>
  <Application>Microsoft Macintosh PowerPoint</Application>
  <PresentationFormat>Произвольный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Consolas</vt:lpstr>
      <vt:lpstr>Arial</vt:lpstr>
      <vt:lpstr>Consolas Medium</vt:lpstr>
      <vt:lpstr>Instrument Sans Semi Bold</vt:lpstr>
      <vt:lpstr>Instrument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Maxim Ryabov</cp:lastModifiedBy>
  <cp:revision>2</cp:revision>
  <dcterms:created xsi:type="dcterms:W3CDTF">2025-12-12T05:55:07Z</dcterms:created>
  <dcterms:modified xsi:type="dcterms:W3CDTF">2025-12-12T06:03:35Z</dcterms:modified>
</cp:coreProperties>
</file>